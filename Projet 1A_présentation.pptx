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Merriweather Medium"/>
      <p:regular r:id="rId29"/>
      <p:bold r:id="rId30"/>
      <p:italic r:id="rId31"/>
      <p:boldItalic r:id="rId32"/>
    </p:embeddedFont>
    <p:embeddedFont>
      <p:font typeface="Pacifico"/>
      <p:regular r:id="rId33"/>
    </p:embeddedFont>
    <p:embeddedFont>
      <p:font typeface="Merriweather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erriweatherMedium-italic.fntdata"/><Relationship Id="rId30" Type="http://schemas.openxmlformats.org/officeDocument/2006/relationships/font" Target="fonts/MerriweatherMedium-bold.fntdata"/><Relationship Id="rId11" Type="http://schemas.openxmlformats.org/officeDocument/2006/relationships/slide" Target="slides/slide6.xml"/><Relationship Id="rId33" Type="http://schemas.openxmlformats.org/officeDocument/2006/relationships/font" Target="fonts/Pacifico-regular.fntdata"/><Relationship Id="rId10" Type="http://schemas.openxmlformats.org/officeDocument/2006/relationships/slide" Target="slides/slide5.xml"/><Relationship Id="rId32" Type="http://schemas.openxmlformats.org/officeDocument/2006/relationships/font" Target="fonts/MerriweatherMedium-boldItalic.fntdata"/><Relationship Id="rId13" Type="http://schemas.openxmlformats.org/officeDocument/2006/relationships/slide" Target="slides/slide8.xml"/><Relationship Id="rId35" Type="http://schemas.openxmlformats.org/officeDocument/2006/relationships/font" Target="fonts/Merriweather-bold.fntdata"/><Relationship Id="rId12" Type="http://schemas.openxmlformats.org/officeDocument/2006/relationships/slide" Target="slides/slide7.xml"/><Relationship Id="rId34" Type="http://schemas.openxmlformats.org/officeDocument/2006/relationships/font" Target="fonts/Merriweather-regular.fntdata"/><Relationship Id="rId15" Type="http://schemas.openxmlformats.org/officeDocument/2006/relationships/slide" Target="slides/slide10.xml"/><Relationship Id="rId37" Type="http://schemas.openxmlformats.org/officeDocument/2006/relationships/font" Target="fonts/Merriweather-boldItalic.fntdata"/><Relationship Id="rId14" Type="http://schemas.openxmlformats.org/officeDocument/2006/relationships/slide" Target="slides/slide9.xml"/><Relationship Id="rId36" Type="http://schemas.openxmlformats.org/officeDocument/2006/relationships/font" Target="fonts/Merriweather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7d08bd320_4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7d08bd320_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7d08bd320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67d08bd320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7d08bd320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67d08bd320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7d08bd320_2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67d08bd320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7d08bd320_2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67d08bd320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7d08bd320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67d08bd320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7d08bd320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67d08bd320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67d08bd320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67d08bd320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7d08bd320_4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67d08bd320_4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7d08bd320_4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67d08bd320_4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7d08bd320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67d08bd320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67d08bd320_7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67d08bd320_7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67d08bd320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67d08bd320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67d08bd320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67d08bd320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67d08bd320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67d08bd320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67d08bd320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67d08bd320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67d08bd320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67d08bd320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67d08bd320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67d08bd320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6.jpg"/><Relationship Id="rId7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0.png"/><Relationship Id="rId6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22.png"/><Relationship Id="rId7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olab.research.google.com/drive/1-wSH-QBYA6GeHyboak_x-QPfSozlXjy2" TargetMode="External"/><Relationship Id="rId4" Type="http://schemas.openxmlformats.org/officeDocument/2006/relationships/hyperlink" Target="https://drive.google.com/drive/folders/19sLY9-oTTEl4XwVt6u9Gqp5zjxf3CJtT" TargetMode="External"/><Relationship Id="rId5" Type="http://schemas.openxmlformats.org/officeDocument/2006/relationships/hyperlink" Target="https://drive.google.com/drive/folders/19sLY9-oTTEl4XwVt6u9Gqp5zjxf3CJtT" TargetMode="External"/><Relationship Id="rId6" Type="http://schemas.openxmlformats.org/officeDocument/2006/relationships/image" Target="../media/image19.png"/><Relationship Id="rId7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localhost:8888/notebooks/Desktop%2FProjet%201A%2FCode%20ihm_presentation.ipynb" TargetMode="External"/><Relationship Id="rId4" Type="http://schemas.openxmlformats.org/officeDocument/2006/relationships/hyperlink" Target="http://localhost:8888/notebooks/Desktop%2FProjet%201A%2Fremplissage%20base_presentation.ipynb" TargetMode="External"/><Relationship Id="rId5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239950" y="1093675"/>
            <a:ext cx="4045200" cy="79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4650">
                <a:latin typeface="Merriweather Medium"/>
                <a:ea typeface="Merriweather Medium"/>
                <a:cs typeface="Merriweather Medium"/>
                <a:sym typeface="Merriweather Medium"/>
              </a:rPr>
              <a:t>Projet 1A</a:t>
            </a:r>
            <a:endParaRPr sz="4650">
              <a:latin typeface="Merriweather Medium"/>
              <a:ea typeface="Merriweather Medium"/>
              <a:cs typeface="Merriweather Medium"/>
              <a:sym typeface="Merriweather Medium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 b="0" l="8841" r="7041" t="0"/>
          <a:stretch/>
        </p:blipFill>
        <p:spPr>
          <a:xfrm>
            <a:off x="7635400" y="81875"/>
            <a:ext cx="1362200" cy="850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>
            <p:ph type="title"/>
          </p:nvPr>
        </p:nvSpPr>
        <p:spPr>
          <a:xfrm>
            <a:off x="6936300" y="4519825"/>
            <a:ext cx="2061300" cy="43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18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13 Juin 2025</a:t>
            </a:r>
            <a:endParaRPr sz="18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409725" y="3066925"/>
            <a:ext cx="1915200" cy="18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fr" sz="1263">
                <a:solidFill>
                  <a:schemeClr val="dk1"/>
                </a:solidFill>
              </a:rPr>
              <a:t>Erwan CALLE</a:t>
            </a:r>
            <a:endParaRPr sz="126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fr" sz="1263">
                <a:solidFill>
                  <a:schemeClr val="dk1"/>
                </a:solidFill>
              </a:rPr>
              <a:t>Timm</a:t>
            </a:r>
            <a:r>
              <a:rPr lang="fr" sz="1263">
                <a:solidFill>
                  <a:schemeClr val="dk1"/>
                </a:solidFill>
              </a:rPr>
              <a:t> CLAVERIE</a:t>
            </a:r>
            <a:endParaRPr sz="126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fr" sz="1263">
                <a:solidFill>
                  <a:schemeClr val="dk1"/>
                </a:solidFill>
              </a:rPr>
              <a:t>Floran COUDERT</a:t>
            </a:r>
            <a:endParaRPr sz="126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fr" sz="1263">
                <a:solidFill>
                  <a:schemeClr val="dk1"/>
                </a:solidFill>
              </a:rPr>
              <a:t>Théo COULONGEAT</a:t>
            </a:r>
            <a:endParaRPr sz="126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fr" sz="1263">
                <a:solidFill>
                  <a:schemeClr val="dk1"/>
                </a:solidFill>
              </a:rPr>
              <a:t>Gilles DEVAUCHELLE</a:t>
            </a:r>
            <a:endParaRPr sz="1263">
              <a:solidFill>
                <a:schemeClr val="dk1"/>
              </a:solidFill>
            </a:endParaRPr>
          </a:p>
        </p:txBody>
      </p:sp>
      <p:pic>
        <p:nvPicPr>
          <p:cNvPr id="89" name="Google Shape;89;p13" title="logo-seatech-2023-1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400" y="81875"/>
            <a:ext cx="1915223" cy="5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>
            <p:ph type="title"/>
          </p:nvPr>
        </p:nvSpPr>
        <p:spPr>
          <a:xfrm>
            <a:off x="1231900" y="1890475"/>
            <a:ext cx="2061300" cy="63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fr" sz="2425">
                <a:latin typeface="Merriweather"/>
                <a:ea typeface="Merriweather"/>
                <a:cs typeface="Merriweather"/>
                <a:sym typeface="Merriweather"/>
              </a:rPr>
              <a:t>CS Group</a:t>
            </a:r>
            <a:endParaRPr sz="2425"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91" name="Google Shape;91;p13"/>
          <p:cNvCxnSpPr/>
          <p:nvPr/>
        </p:nvCxnSpPr>
        <p:spPr>
          <a:xfrm>
            <a:off x="630550" y="1894225"/>
            <a:ext cx="3264000" cy="7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13"/>
          <p:cNvSpPr txBox="1"/>
          <p:nvPr>
            <p:ph idx="1" type="subTitle"/>
          </p:nvPr>
        </p:nvSpPr>
        <p:spPr>
          <a:xfrm>
            <a:off x="2521875" y="2993675"/>
            <a:ext cx="1812300" cy="17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fr" sz="1268">
                <a:solidFill>
                  <a:schemeClr val="dk1"/>
                </a:solidFill>
              </a:rPr>
              <a:t>Hugo GLEYZE </a:t>
            </a:r>
            <a:endParaRPr sz="1268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fr" sz="1268">
                <a:solidFill>
                  <a:schemeClr val="dk1"/>
                </a:solidFill>
              </a:rPr>
              <a:t>Marin GODEFROY</a:t>
            </a:r>
            <a:endParaRPr sz="126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fr" sz="1268">
                <a:solidFill>
                  <a:schemeClr val="dk1"/>
                </a:solidFill>
              </a:rPr>
              <a:t>Violette LERE</a:t>
            </a:r>
            <a:endParaRPr sz="126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fr" sz="1268">
                <a:solidFill>
                  <a:schemeClr val="dk1"/>
                </a:solidFill>
              </a:rPr>
              <a:t>Julie PELLETIER</a:t>
            </a:r>
            <a:endParaRPr sz="126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fr" sz="1268">
                <a:solidFill>
                  <a:schemeClr val="dk1"/>
                </a:solidFill>
              </a:rPr>
              <a:t>Noëmie SALAÜN</a:t>
            </a:r>
            <a:endParaRPr sz="1268">
              <a:solidFill>
                <a:schemeClr val="dk1"/>
              </a:solidFill>
            </a:endParaRPr>
          </a:p>
        </p:txBody>
      </p:sp>
      <p:pic>
        <p:nvPicPr>
          <p:cNvPr id="93" name="Google Shape;9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2238" y="1875900"/>
            <a:ext cx="3626583" cy="17001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3"/>
          <p:cNvCxnSpPr/>
          <p:nvPr/>
        </p:nvCxnSpPr>
        <p:spPr>
          <a:xfrm>
            <a:off x="2261500" y="3066925"/>
            <a:ext cx="2100" cy="170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3"/>
          <p:cNvSpPr txBox="1"/>
          <p:nvPr>
            <p:ph type="title"/>
          </p:nvPr>
        </p:nvSpPr>
        <p:spPr>
          <a:xfrm>
            <a:off x="4764675" y="1316425"/>
            <a:ext cx="4045200" cy="54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802"/>
              <a:buNone/>
            </a:pPr>
            <a:r>
              <a:rPr lang="fr" sz="1883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Surveillance maritime</a:t>
            </a:r>
            <a:endParaRPr sz="1883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4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4"/>
          <p:cNvSpPr txBox="1"/>
          <p:nvPr>
            <p:ph idx="4294967295" type="title"/>
          </p:nvPr>
        </p:nvSpPr>
        <p:spPr>
          <a:xfrm>
            <a:off x="319325" y="173775"/>
            <a:ext cx="6028200" cy="8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fr" sz="3100">
                <a:latin typeface="Arial"/>
                <a:ea typeface="Arial"/>
                <a:cs typeface="Arial"/>
                <a:sym typeface="Arial"/>
              </a:rPr>
              <a:t>Objectifs du projet</a:t>
            </a:r>
            <a:r>
              <a:rPr b="1" lang="fr" sz="3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3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463050" y="1123150"/>
            <a:ext cx="8121600" cy="39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u="sng">
                <a:solidFill>
                  <a:schemeClr val="dk1"/>
                </a:solidFill>
              </a:rPr>
              <a:t>Cahier des charges</a:t>
            </a:r>
            <a:endParaRPr sz="1900" u="sng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/>
              <a:t>• </a:t>
            </a:r>
            <a:r>
              <a:rPr lang="fr" sz="1900"/>
              <a:t>Fournir une banque de données d’images</a:t>
            </a:r>
            <a:endParaRPr sz="1900"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/>
              <a:t>• Fournir une base de données SQL</a:t>
            </a:r>
            <a:endParaRPr sz="1900"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/>
              <a:t>• Fournir une interface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u="sng">
                <a:solidFill>
                  <a:schemeClr val="dk1"/>
                </a:solidFill>
              </a:rPr>
              <a:t>Objectifs à atteindre</a:t>
            </a:r>
            <a:endParaRPr sz="1900" u="sng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/>
              <a:t>• Banque de données d’au moins 10 000 images</a:t>
            </a:r>
            <a:endParaRPr sz="1900"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/>
              <a:t>• Détection des conditions météorologiques sur l’image</a:t>
            </a:r>
            <a:endParaRPr sz="1900"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/>
              <a:t>• Analyser les prises de vues en diurne et en nocturne</a:t>
            </a:r>
            <a:endParaRPr sz="1900"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/>
              <a:t>• Classifier les images en fonction de la prise de vue (face, côté, dos)</a:t>
            </a:r>
            <a:endParaRPr sz="1900"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/>
              <a:t>• Renvoyer les informations associées à chaque image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0883" y="25"/>
            <a:ext cx="2043117" cy="101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title="logo-seatech-2023-1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724" y="25"/>
            <a:ext cx="1382226" cy="39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7850" y="25"/>
            <a:ext cx="2026150" cy="10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/>
          <p:cNvPicPr preferRelativeResize="0"/>
          <p:nvPr/>
        </p:nvPicPr>
        <p:blipFill rotWithShape="1">
          <a:blip r:embed="rId5">
            <a:alphaModFix/>
          </a:blip>
          <a:srcRect b="12776" l="16771" r="8457" t="6311"/>
          <a:stretch/>
        </p:blipFill>
        <p:spPr>
          <a:xfrm>
            <a:off x="8584650" y="4492975"/>
            <a:ext cx="462768" cy="5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8719800" y="4552203"/>
            <a:ext cx="366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latin typeface="Pacifico"/>
                <a:ea typeface="Pacifico"/>
                <a:cs typeface="Pacifico"/>
                <a:sym typeface="Pacifico"/>
              </a:rPr>
              <a:t>2</a:t>
            </a:r>
            <a:endParaRPr sz="1000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5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 txBox="1"/>
          <p:nvPr>
            <p:ph idx="4294967295" type="title"/>
          </p:nvPr>
        </p:nvSpPr>
        <p:spPr>
          <a:xfrm>
            <a:off x="319325" y="173775"/>
            <a:ext cx="52290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1935"/>
              <a:buFont typeface="Arial"/>
              <a:buNone/>
            </a:pPr>
            <a:r>
              <a:rPr b="1" lang="fr" sz="3100">
                <a:latin typeface="Arial"/>
                <a:ea typeface="Arial"/>
                <a:cs typeface="Arial"/>
                <a:sym typeface="Arial"/>
              </a:rPr>
              <a:t>Répartition</a:t>
            </a:r>
            <a:r>
              <a:rPr lang="fr"/>
              <a:t> </a:t>
            </a:r>
            <a:r>
              <a:rPr b="1" lang="fr" sz="3100">
                <a:latin typeface="Arial"/>
                <a:ea typeface="Arial"/>
                <a:cs typeface="Arial"/>
                <a:sym typeface="Arial"/>
              </a:rPr>
              <a:t>des différents groupes</a:t>
            </a:r>
            <a:endParaRPr b="1" sz="3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5" title="Capture d’écran 2025-06-11 à 22.48.1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675" y="1659075"/>
            <a:ext cx="7383974" cy="29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7850" y="25"/>
            <a:ext cx="2026150" cy="10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title="logo-seatech-2023-1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4724" y="25"/>
            <a:ext cx="1382226" cy="39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 rotWithShape="1">
          <a:blip r:embed="rId6">
            <a:alphaModFix/>
          </a:blip>
          <a:srcRect b="12776" l="16771" r="8457" t="6311"/>
          <a:stretch/>
        </p:blipFill>
        <p:spPr>
          <a:xfrm>
            <a:off x="8584650" y="4492975"/>
            <a:ext cx="462768" cy="5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8719800" y="4552203"/>
            <a:ext cx="366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latin typeface="Pacifico"/>
                <a:ea typeface="Pacifico"/>
                <a:cs typeface="Pacifico"/>
                <a:sym typeface="Pacifico"/>
              </a:rPr>
              <a:t>3</a:t>
            </a:r>
            <a:endParaRPr sz="1000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 txBox="1"/>
          <p:nvPr>
            <p:ph idx="4294967295" type="title"/>
          </p:nvPr>
        </p:nvSpPr>
        <p:spPr>
          <a:xfrm>
            <a:off x="319325" y="173775"/>
            <a:ext cx="60282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100">
                <a:latin typeface="Arial"/>
                <a:ea typeface="Arial"/>
                <a:cs typeface="Arial"/>
                <a:sym typeface="Arial"/>
              </a:rPr>
              <a:t>Collecte manuelle d’images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 txBox="1"/>
          <p:nvPr>
            <p:ph idx="4294967295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 txBox="1"/>
          <p:nvPr>
            <p:ph idx="4294967295" type="body"/>
          </p:nvPr>
        </p:nvSpPr>
        <p:spPr>
          <a:xfrm>
            <a:off x="4572000" y="1775225"/>
            <a:ext cx="45720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537" u="sng">
                <a:solidFill>
                  <a:schemeClr val="dk1"/>
                </a:solidFill>
              </a:rPr>
              <a:t>Résultat de la collecte manuelle</a:t>
            </a:r>
            <a:endParaRPr sz="2537" u="sng">
              <a:solidFill>
                <a:schemeClr val="dk1"/>
              </a:solidFill>
            </a:endParaRPr>
          </a:p>
          <a:p>
            <a:pPr indent="-32845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fr" sz="1700">
                <a:solidFill>
                  <a:srgbClr val="000000"/>
                </a:solidFill>
              </a:rPr>
              <a:t>1 500 images pour entraîner l’IA</a:t>
            </a:r>
            <a:endParaRPr sz="1700">
              <a:solidFill>
                <a:srgbClr val="000000"/>
              </a:solidFill>
            </a:endParaRPr>
          </a:p>
          <a:p>
            <a:pPr indent="-32845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fr" sz="1700">
                <a:solidFill>
                  <a:srgbClr val="000000"/>
                </a:solidFill>
              </a:rPr>
              <a:t>1 200 images pour la recherche spécifique (navires militaires, jet skis, Corsica Ferries…)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fr" sz="2526" u="sng">
                <a:solidFill>
                  <a:schemeClr val="dk1"/>
                </a:solidFill>
              </a:rPr>
              <a:t>Limites de la collecte manuelle</a:t>
            </a:r>
            <a:endParaRPr sz="2526" u="sng">
              <a:solidFill>
                <a:schemeClr val="dk1"/>
              </a:solidFill>
            </a:endParaRPr>
          </a:p>
          <a:p>
            <a:pPr indent="-328454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fr" sz="1700">
                <a:solidFill>
                  <a:srgbClr val="000000"/>
                </a:solidFill>
              </a:rPr>
              <a:t>Chronophage</a:t>
            </a:r>
            <a:endParaRPr sz="1700">
              <a:solidFill>
                <a:srgbClr val="000000"/>
              </a:solidFill>
            </a:endParaRPr>
          </a:p>
          <a:p>
            <a:pPr indent="-328454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fr" sz="1700">
                <a:solidFill>
                  <a:srgbClr val="000000"/>
                </a:solidFill>
              </a:rPr>
              <a:t>Absence des caractéristiques associées aux images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30" name="Google Shape;13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950" y="843925"/>
            <a:ext cx="4343400" cy="386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7825" y="34"/>
            <a:ext cx="2026175" cy="100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title="logo-seatech-2023-1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4724" y="25"/>
            <a:ext cx="1382226" cy="39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1055700" y="4711075"/>
            <a:ext cx="25119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</a:rPr>
              <a:t>Recherche manuelle d’images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7850" y="25"/>
            <a:ext cx="2026150" cy="10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/>
          <p:cNvPicPr preferRelativeResize="0"/>
          <p:nvPr/>
        </p:nvPicPr>
        <p:blipFill rotWithShape="1">
          <a:blip r:embed="rId6">
            <a:alphaModFix/>
          </a:blip>
          <a:srcRect b="12776" l="16771" r="8457" t="6311"/>
          <a:stretch/>
        </p:blipFill>
        <p:spPr>
          <a:xfrm>
            <a:off x="8584650" y="4492975"/>
            <a:ext cx="462768" cy="5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8719800" y="4552203"/>
            <a:ext cx="366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latin typeface="Pacifico"/>
                <a:ea typeface="Pacifico"/>
                <a:cs typeface="Pacifico"/>
                <a:sym typeface="Pacifico"/>
              </a:rPr>
              <a:t>4</a:t>
            </a:r>
            <a:endParaRPr sz="1000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ctrTitle"/>
          </p:nvPr>
        </p:nvSpPr>
        <p:spPr>
          <a:xfrm>
            <a:off x="5641350" y="2202175"/>
            <a:ext cx="3426600" cy="197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37" u="sng">
                <a:solidFill>
                  <a:schemeClr val="dk1"/>
                </a:solidFill>
              </a:rPr>
              <a:t>Résultat du web scraping</a:t>
            </a:r>
            <a:endParaRPr sz="197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fr" sz="1700">
                <a:solidFill>
                  <a:srgbClr val="000000"/>
                </a:solidFill>
              </a:rPr>
              <a:t>11 000 images collectées</a:t>
            </a:r>
            <a:endParaRPr sz="1700">
              <a:solidFill>
                <a:srgbClr val="000000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-"/>
            </a:pPr>
            <a:r>
              <a:rPr lang="fr" sz="1700">
                <a:solidFill>
                  <a:srgbClr val="000000"/>
                </a:solidFill>
              </a:rPr>
              <a:t>Caractéristiques extraites : IMO, localisation et la date de prise de vue</a:t>
            </a:r>
            <a:endParaRPr sz="1700">
              <a:solidFill>
                <a:srgbClr val="000000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7"/>
          <p:cNvSpPr txBox="1"/>
          <p:nvPr>
            <p:ph idx="4294967295" type="title"/>
          </p:nvPr>
        </p:nvSpPr>
        <p:spPr>
          <a:xfrm>
            <a:off x="319325" y="173775"/>
            <a:ext cx="60282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100">
                <a:latin typeface="Arial"/>
                <a:ea typeface="Arial"/>
                <a:cs typeface="Arial"/>
                <a:sym typeface="Arial"/>
              </a:rPr>
              <a:t>Web scraping</a:t>
            </a:r>
            <a:endParaRPr b="1" sz="3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7825" y="34"/>
            <a:ext cx="2026175" cy="100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title="shi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25" y="918075"/>
            <a:ext cx="5471875" cy="345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title="logo-seatech-2023-1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4724" y="25"/>
            <a:ext cx="1382226" cy="39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1478250" y="4447525"/>
            <a:ext cx="2979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</a:rPr>
              <a:t>Images extraites du site ShipSpotting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147" name="Google Shape;14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7850" y="25"/>
            <a:ext cx="2026150" cy="10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/>
          <p:cNvPicPr preferRelativeResize="0"/>
          <p:nvPr/>
        </p:nvPicPr>
        <p:blipFill rotWithShape="1">
          <a:blip r:embed="rId6">
            <a:alphaModFix/>
          </a:blip>
          <a:srcRect b="12776" l="16771" r="8457" t="6311"/>
          <a:stretch/>
        </p:blipFill>
        <p:spPr>
          <a:xfrm>
            <a:off x="8584650" y="4492975"/>
            <a:ext cx="462768" cy="5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8719800" y="4552203"/>
            <a:ext cx="366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latin typeface="Pacifico"/>
                <a:ea typeface="Pacifico"/>
                <a:cs typeface="Pacifico"/>
                <a:sym typeface="Pacifico"/>
              </a:rPr>
              <a:t>5</a:t>
            </a:r>
            <a:endParaRPr sz="1000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 txBox="1"/>
          <p:nvPr>
            <p:ph idx="4294967295" type="title"/>
          </p:nvPr>
        </p:nvSpPr>
        <p:spPr>
          <a:xfrm>
            <a:off x="319325" y="173775"/>
            <a:ext cx="60282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100">
                <a:latin typeface="Arial"/>
                <a:ea typeface="Arial"/>
                <a:cs typeface="Arial"/>
                <a:sym typeface="Arial"/>
              </a:rPr>
              <a:t>Entrainement de l’IA</a:t>
            </a:r>
            <a:endParaRPr b="1" sz="3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18" title="train_batch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550" y="1105750"/>
            <a:ext cx="2949773" cy="32787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7" name="Google Shape;157;p18" title="P_curv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3950" y="1106813"/>
            <a:ext cx="4222735" cy="327872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8" name="Google Shape;15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7825" y="34"/>
            <a:ext cx="2026175" cy="100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883925" y="4488175"/>
            <a:ext cx="2247900" cy="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Détection</a:t>
            </a:r>
            <a:r>
              <a:rPr lang="fr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de l’objet 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0" name="Google Shape;160;p18" title="logo-seatech-2023-1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4724" y="25"/>
            <a:ext cx="1382226" cy="39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4777725" y="4488175"/>
            <a:ext cx="2247900" cy="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Précision de l’IA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2" name="Google Shape;16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7850" y="25"/>
            <a:ext cx="2026150" cy="10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7">
            <a:alphaModFix/>
          </a:blip>
          <a:srcRect b="12776" l="16771" r="8457" t="6311"/>
          <a:stretch/>
        </p:blipFill>
        <p:spPr>
          <a:xfrm>
            <a:off x="8584650" y="4492975"/>
            <a:ext cx="462768" cy="5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8719800" y="4552203"/>
            <a:ext cx="366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latin typeface="Pacifico"/>
                <a:ea typeface="Pacifico"/>
                <a:cs typeface="Pacifico"/>
                <a:sym typeface="Pacifico"/>
              </a:rPr>
              <a:t>6</a:t>
            </a:r>
            <a:endParaRPr sz="1000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9"/>
          <p:cNvSpPr txBox="1"/>
          <p:nvPr>
            <p:ph idx="4294967295" type="title"/>
          </p:nvPr>
        </p:nvSpPr>
        <p:spPr>
          <a:xfrm>
            <a:off x="319325" y="173775"/>
            <a:ext cx="60282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100">
                <a:latin typeface="Arial"/>
                <a:ea typeface="Arial"/>
                <a:cs typeface="Arial"/>
                <a:sym typeface="Arial"/>
              </a:rPr>
              <a:t>Entrainement de l’IA</a:t>
            </a:r>
            <a:endParaRPr b="1" sz="3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7825" y="34"/>
            <a:ext cx="2026175" cy="100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858550" y="4333500"/>
            <a:ext cx="31269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Proportion des classes de bateaux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173;p19" title="logo-seatech-2023-1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724" y="25"/>
            <a:ext cx="1382226" cy="39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title="Captur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100" y="936238"/>
            <a:ext cx="4005811" cy="339726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5" name="Google Shape;175;p19" title="7f25adb125d2f80e8a91e9e974f2e939edf79cdc.jpg"/>
          <p:cNvPicPr preferRelativeResize="0"/>
          <p:nvPr/>
        </p:nvPicPr>
        <p:blipFill rotWithShape="1">
          <a:blip r:embed="rId6">
            <a:alphaModFix/>
          </a:blip>
          <a:srcRect b="52683" l="0" r="0" t="0"/>
          <a:stretch/>
        </p:blipFill>
        <p:spPr>
          <a:xfrm>
            <a:off x="4799050" y="2250341"/>
            <a:ext cx="2026150" cy="208315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6" name="Google Shape;17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7850" y="25"/>
            <a:ext cx="2026150" cy="10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5736200" y="4277550"/>
            <a:ext cx="2243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fr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lasses de bateaux</a:t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8" name="Google Shape;178;p19" title="7f25adb125d2f80e8a91e9e974f2e939edf79cdc.jpg"/>
          <p:cNvPicPr preferRelativeResize="0"/>
          <p:nvPr/>
        </p:nvPicPr>
        <p:blipFill rotWithShape="1">
          <a:blip r:embed="rId6">
            <a:alphaModFix/>
          </a:blip>
          <a:srcRect b="5" l="0" r="0" t="47570"/>
          <a:stretch/>
        </p:blipFill>
        <p:spPr>
          <a:xfrm>
            <a:off x="6882175" y="2025362"/>
            <a:ext cx="2026150" cy="230813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9" name="Google Shape;179;p19"/>
          <p:cNvPicPr preferRelativeResize="0"/>
          <p:nvPr/>
        </p:nvPicPr>
        <p:blipFill rotWithShape="1">
          <a:blip r:embed="rId7">
            <a:alphaModFix/>
          </a:blip>
          <a:srcRect b="12776" l="16771" r="8457" t="6311"/>
          <a:stretch/>
        </p:blipFill>
        <p:spPr>
          <a:xfrm>
            <a:off x="8584650" y="4492975"/>
            <a:ext cx="462768" cy="5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8719800" y="4552203"/>
            <a:ext cx="366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latin typeface="Pacifico"/>
                <a:ea typeface="Pacifico"/>
                <a:cs typeface="Pacifico"/>
                <a:sym typeface="Pacifico"/>
              </a:rPr>
              <a:t>7</a:t>
            </a:r>
            <a:endParaRPr sz="1000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>
            <p:ph idx="4294967295" type="title"/>
          </p:nvPr>
        </p:nvSpPr>
        <p:spPr>
          <a:xfrm>
            <a:off x="319325" y="173775"/>
            <a:ext cx="60282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100">
                <a:latin typeface="Arial"/>
                <a:ea typeface="Arial"/>
                <a:cs typeface="Arial"/>
                <a:sym typeface="Arial"/>
              </a:rPr>
              <a:t>Création d’une base SQL</a:t>
            </a:r>
            <a:endParaRPr b="1" sz="3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4563" y="861238"/>
            <a:ext cx="5688783" cy="2580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0075" y="3521725"/>
            <a:ext cx="6157750" cy="114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7825" y="34"/>
            <a:ext cx="2026175" cy="100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title="logo-seatech-2023-1 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4724" y="25"/>
            <a:ext cx="1382226" cy="39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7850" y="25"/>
            <a:ext cx="2026150" cy="10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 rotWithShape="1">
          <a:blip r:embed="rId7">
            <a:alphaModFix/>
          </a:blip>
          <a:srcRect b="12776" l="16771" r="8457" t="6311"/>
          <a:stretch/>
        </p:blipFill>
        <p:spPr>
          <a:xfrm>
            <a:off x="8584650" y="4492975"/>
            <a:ext cx="462768" cy="5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8719800" y="4552203"/>
            <a:ext cx="366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latin typeface="Pacifico"/>
                <a:ea typeface="Pacifico"/>
                <a:cs typeface="Pacifico"/>
                <a:sym typeface="Pacifico"/>
              </a:rPr>
              <a:t>8</a:t>
            </a:r>
            <a:endParaRPr sz="1000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>
            <p:ph idx="4294967295" type="title"/>
          </p:nvPr>
        </p:nvSpPr>
        <p:spPr>
          <a:xfrm>
            <a:off x="319325" y="173775"/>
            <a:ext cx="60282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100">
                <a:latin typeface="Arial"/>
                <a:ea typeface="Arial"/>
                <a:cs typeface="Arial"/>
                <a:sym typeface="Arial"/>
              </a:rPr>
              <a:t>Création d’une base SQL</a:t>
            </a:r>
            <a:endParaRPr b="1" sz="3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86800" y="1046125"/>
            <a:ext cx="28077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/>
              <a:t>Exemple de fichier texte:</a:t>
            </a:r>
            <a:endParaRPr sz="1600"/>
          </a:p>
        </p:txBody>
      </p:sp>
      <p:pic>
        <p:nvPicPr>
          <p:cNvPr id="199" name="Google Shape;19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600" y="1408500"/>
            <a:ext cx="7343775" cy="304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0" name="Google Shape;200;p21"/>
          <p:cNvPicPr preferRelativeResize="0"/>
          <p:nvPr/>
        </p:nvPicPr>
        <p:blipFill rotWithShape="1">
          <a:blip r:embed="rId4">
            <a:alphaModFix/>
          </a:blip>
          <a:srcRect b="0" l="0" r="42674" t="0"/>
          <a:stretch/>
        </p:blipFill>
        <p:spPr>
          <a:xfrm>
            <a:off x="1201300" y="2077300"/>
            <a:ext cx="6451398" cy="5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/>
          <p:cNvPicPr preferRelativeResize="0"/>
          <p:nvPr/>
        </p:nvPicPr>
        <p:blipFill rotWithShape="1">
          <a:blip r:embed="rId5">
            <a:alphaModFix/>
          </a:blip>
          <a:srcRect b="0" l="0" r="18844" t="0"/>
          <a:stretch/>
        </p:blipFill>
        <p:spPr>
          <a:xfrm>
            <a:off x="1201300" y="3777550"/>
            <a:ext cx="7173450" cy="62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7825" y="34"/>
            <a:ext cx="2026175" cy="100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 title="logo-seatech-2023-1 (1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24724" y="25"/>
            <a:ext cx="1382226" cy="39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/>
          <p:cNvPicPr preferRelativeResize="0"/>
          <p:nvPr/>
        </p:nvPicPr>
        <p:blipFill rotWithShape="1">
          <a:blip r:embed="rId4">
            <a:alphaModFix/>
          </a:blip>
          <a:srcRect b="0" l="56435" r="0" t="20"/>
          <a:stretch/>
        </p:blipFill>
        <p:spPr>
          <a:xfrm>
            <a:off x="3471200" y="2644200"/>
            <a:ext cx="4903562" cy="566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5" name="Google Shape;205;p21"/>
          <p:cNvCxnSpPr/>
          <p:nvPr/>
        </p:nvCxnSpPr>
        <p:spPr>
          <a:xfrm flipH="1">
            <a:off x="629150" y="1731125"/>
            <a:ext cx="11400" cy="2275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1"/>
          <p:cNvCxnSpPr/>
          <p:nvPr/>
        </p:nvCxnSpPr>
        <p:spPr>
          <a:xfrm>
            <a:off x="640550" y="2258625"/>
            <a:ext cx="470700" cy="1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7" name="Google Shape;207;p21"/>
          <p:cNvCxnSpPr/>
          <p:nvPr/>
        </p:nvCxnSpPr>
        <p:spPr>
          <a:xfrm flipH="1" rot="10800000">
            <a:off x="644600" y="4006325"/>
            <a:ext cx="462600" cy="1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08" name="Google Shape;20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7850" y="25"/>
            <a:ext cx="2026150" cy="10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1107200" y="1755874"/>
            <a:ext cx="1428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Table bateaux: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1107200" y="3408049"/>
            <a:ext cx="1428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Table images:</a:t>
            </a:r>
            <a:endParaRPr/>
          </a:p>
        </p:txBody>
      </p:sp>
      <p:pic>
        <p:nvPicPr>
          <p:cNvPr id="211" name="Google Shape;211;p21"/>
          <p:cNvPicPr preferRelativeResize="0"/>
          <p:nvPr/>
        </p:nvPicPr>
        <p:blipFill rotWithShape="1">
          <a:blip r:embed="rId8">
            <a:alphaModFix/>
          </a:blip>
          <a:srcRect b="12776" l="16771" r="8457" t="6311"/>
          <a:stretch/>
        </p:blipFill>
        <p:spPr>
          <a:xfrm>
            <a:off x="8584650" y="4492975"/>
            <a:ext cx="462768" cy="5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8719800" y="4552203"/>
            <a:ext cx="366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latin typeface="Pacifico"/>
                <a:ea typeface="Pacifico"/>
                <a:cs typeface="Pacifico"/>
                <a:sym typeface="Pacifico"/>
              </a:rPr>
              <a:t>9</a:t>
            </a:r>
            <a:endParaRPr sz="1000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 txBox="1"/>
          <p:nvPr>
            <p:ph idx="4294967295" type="title"/>
          </p:nvPr>
        </p:nvSpPr>
        <p:spPr>
          <a:xfrm>
            <a:off x="265500" y="383625"/>
            <a:ext cx="40452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100">
                <a:latin typeface="Arial"/>
                <a:ea typeface="Arial"/>
                <a:cs typeface="Arial"/>
                <a:sym typeface="Arial"/>
              </a:rPr>
              <a:t>Création d’une IHM</a:t>
            </a:r>
            <a:endParaRPr/>
          </a:p>
        </p:txBody>
      </p:sp>
      <p:pic>
        <p:nvPicPr>
          <p:cNvPr id="218" name="Google Shape;2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7175" y="1060789"/>
            <a:ext cx="2963601" cy="381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7825" y="34"/>
            <a:ext cx="2026175" cy="100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>
            <p:ph idx="1" type="subTitle"/>
          </p:nvPr>
        </p:nvSpPr>
        <p:spPr>
          <a:xfrm>
            <a:off x="265500" y="1512600"/>
            <a:ext cx="4310700" cy="33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>
                <a:solidFill>
                  <a:srgbClr val="000000"/>
                </a:solidFill>
              </a:rPr>
              <a:t>Critères</a:t>
            </a:r>
            <a:r>
              <a:rPr lang="fr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❏"/>
            </a:pPr>
            <a:r>
              <a:rPr lang="fr">
                <a:solidFill>
                  <a:srgbClr val="000000"/>
                </a:solidFill>
              </a:rPr>
              <a:t>Moment → jour</a:t>
            </a:r>
            <a:endParaRPr>
              <a:solidFill>
                <a:srgbClr val="000000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❏"/>
            </a:pPr>
            <a:r>
              <a:rPr lang="fr">
                <a:solidFill>
                  <a:srgbClr val="000000"/>
                </a:solidFill>
              </a:rPr>
              <a:t>Météo → ensoleillé</a:t>
            </a:r>
            <a:endParaRPr>
              <a:solidFill>
                <a:srgbClr val="000000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❏"/>
            </a:pPr>
            <a:r>
              <a:rPr lang="fr">
                <a:solidFill>
                  <a:srgbClr val="000000"/>
                </a:solidFill>
              </a:rPr>
              <a:t>Catégories → voilier et kayak</a:t>
            </a:r>
            <a:endParaRPr>
              <a:solidFill>
                <a:srgbClr val="000000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❏"/>
            </a:pPr>
            <a:r>
              <a:rPr lang="fr">
                <a:solidFill>
                  <a:srgbClr val="000000"/>
                </a:solidFill>
              </a:rPr>
              <a:t>Orientation → côté</a:t>
            </a:r>
            <a:endParaRPr>
              <a:solidFill>
                <a:srgbClr val="000000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❏"/>
            </a:pPr>
            <a:r>
              <a:rPr lang="fr">
                <a:solidFill>
                  <a:srgbClr val="000000"/>
                </a:solidFill>
              </a:rPr>
              <a:t>Nombre de bateaux</a:t>
            </a:r>
            <a:endParaRPr>
              <a:solidFill>
                <a:srgbClr val="000000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❏"/>
            </a:pPr>
            <a:r>
              <a:rPr lang="fr">
                <a:solidFill>
                  <a:srgbClr val="000000"/>
                </a:solidFill>
              </a:rPr>
              <a:t>Numéro IMO</a:t>
            </a:r>
            <a:endParaRPr>
              <a:solidFill>
                <a:srgbClr val="000000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❏"/>
            </a:pPr>
            <a:r>
              <a:rPr lang="fr">
                <a:solidFill>
                  <a:srgbClr val="000000"/>
                </a:solidFill>
              </a:rPr>
              <a:t>Date</a:t>
            </a:r>
            <a:endParaRPr>
              <a:solidFill>
                <a:srgbClr val="000000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❏"/>
            </a:pPr>
            <a:r>
              <a:rPr lang="fr">
                <a:solidFill>
                  <a:srgbClr val="000000"/>
                </a:solidFill>
              </a:rPr>
              <a:t>Localisation → Toulon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21" name="Google Shape;221;p22" title="logo-seatech-2023-1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4724" y="25"/>
            <a:ext cx="1382226" cy="39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7850" y="25"/>
            <a:ext cx="2026150" cy="10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/>
          <p:cNvPicPr preferRelativeResize="0"/>
          <p:nvPr/>
        </p:nvPicPr>
        <p:blipFill rotWithShape="1">
          <a:blip r:embed="rId6">
            <a:alphaModFix/>
          </a:blip>
          <a:srcRect b="12776" l="16771" r="8457" t="6311"/>
          <a:stretch/>
        </p:blipFill>
        <p:spPr>
          <a:xfrm>
            <a:off x="8584650" y="4492975"/>
            <a:ext cx="462768" cy="5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8706625" y="4557628"/>
            <a:ext cx="366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latin typeface="Pacifico"/>
                <a:ea typeface="Pacifico"/>
                <a:cs typeface="Pacifico"/>
                <a:sym typeface="Pacifico"/>
              </a:rPr>
              <a:t>10</a:t>
            </a:r>
            <a:endParaRPr sz="1000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 txBox="1"/>
          <p:nvPr>
            <p:ph idx="4294967295" type="title"/>
          </p:nvPr>
        </p:nvSpPr>
        <p:spPr>
          <a:xfrm>
            <a:off x="311700" y="3935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100">
                <a:latin typeface="Arial"/>
                <a:ea typeface="Arial"/>
                <a:cs typeface="Arial"/>
                <a:sym typeface="Arial"/>
              </a:rPr>
              <a:t>Rendu physique de l’interface</a:t>
            </a:r>
            <a:endParaRPr/>
          </a:p>
        </p:txBody>
      </p:sp>
      <p:pic>
        <p:nvPicPr>
          <p:cNvPr id="230" name="Google Shape;2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7825" y="34"/>
            <a:ext cx="2026175" cy="100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title="logo-seatech-2023-1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724" y="25"/>
            <a:ext cx="1382226" cy="39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7850" y="25"/>
            <a:ext cx="2026150" cy="10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3050" y="1163825"/>
            <a:ext cx="7317908" cy="38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/>
          <p:cNvPicPr preferRelativeResize="0"/>
          <p:nvPr/>
        </p:nvPicPr>
        <p:blipFill rotWithShape="1">
          <a:blip r:embed="rId6">
            <a:alphaModFix/>
          </a:blip>
          <a:srcRect b="12776" l="16771" r="8457" t="6311"/>
          <a:stretch/>
        </p:blipFill>
        <p:spPr>
          <a:xfrm>
            <a:off x="8584650" y="4492975"/>
            <a:ext cx="462768" cy="5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8719800" y="4552203"/>
            <a:ext cx="366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latin typeface="Pacifico"/>
                <a:ea typeface="Pacifico"/>
                <a:cs typeface="Pacifico"/>
                <a:sym typeface="Pacifico"/>
              </a:rPr>
              <a:t>11</a:t>
            </a:r>
            <a:endParaRPr sz="1000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"/>
          <p:cNvSpPr txBox="1"/>
          <p:nvPr>
            <p:ph idx="4294967295" type="title"/>
          </p:nvPr>
        </p:nvSpPr>
        <p:spPr>
          <a:xfrm>
            <a:off x="265500" y="383625"/>
            <a:ext cx="4045200" cy="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100">
                <a:latin typeface="Arial"/>
                <a:ea typeface="Arial"/>
                <a:cs typeface="Arial"/>
                <a:sym typeface="Arial"/>
              </a:rPr>
              <a:t>Création d’une IHM</a:t>
            </a:r>
            <a:endParaRPr/>
          </a:p>
        </p:txBody>
      </p:sp>
      <p:pic>
        <p:nvPicPr>
          <p:cNvPr id="241" name="Google Shape;2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7825" y="34"/>
            <a:ext cx="2026175" cy="100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4"/>
          <p:cNvSpPr txBox="1"/>
          <p:nvPr>
            <p:ph idx="1" type="subTitle"/>
          </p:nvPr>
        </p:nvSpPr>
        <p:spPr>
          <a:xfrm>
            <a:off x="265500" y="1512600"/>
            <a:ext cx="4310700" cy="335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u="sng">
                <a:solidFill>
                  <a:srgbClr val="000000"/>
                </a:solidFill>
              </a:rPr>
              <a:t>Critères</a:t>
            </a:r>
            <a:r>
              <a:rPr lang="fr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❏"/>
            </a:pPr>
            <a:r>
              <a:rPr lang="fr">
                <a:solidFill>
                  <a:srgbClr val="000000"/>
                </a:solidFill>
              </a:rPr>
              <a:t>Moment → jour</a:t>
            </a:r>
            <a:endParaRPr>
              <a:solidFill>
                <a:srgbClr val="000000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❏"/>
            </a:pPr>
            <a:r>
              <a:rPr lang="fr">
                <a:solidFill>
                  <a:srgbClr val="000000"/>
                </a:solidFill>
              </a:rPr>
              <a:t>Météo → ensoleillé</a:t>
            </a:r>
            <a:endParaRPr>
              <a:solidFill>
                <a:srgbClr val="000000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❏"/>
            </a:pPr>
            <a:r>
              <a:rPr lang="fr">
                <a:solidFill>
                  <a:srgbClr val="000000"/>
                </a:solidFill>
              </a:rPr>
              <a:t>Catégories → voilier et kayak</a:t>
            </a:r>
            <a:endParaRPr>
              <a:solidFill>
                <a:srgbClr val="000000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❏"/>
            </a:pPr>
            <a:r>
              <a:rPr lang="fr">
                <a:solidFill>
                  <a:srgbClr val="000000"/>
                </a:solidFill>
              </a:rPr>
              <a:t>Orientation → côté</a:t>
            </a:r>
            <a:endParaRPr>
              <a:solidFill>
                <a:srgbClr val="000000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❏"/>
            </a:pPr>
            <a:r>
              <a:rPr lang="fr">
                <a:solidFill>
                  <a:srgbClr val="000000"/>
                </a:solidFill>
              </a:rPr>
              <a:t>Nombre de bateaux</a:t>
            </a:r>
            <a:endParaRPr>
              <a:solidFill>
                <a:srgbClr val="000000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❏"/>
            </a:pPr>
            <a:r>
              <a:rPr lang="fr">
                <a:solidFill>
                  <a:srgbClr val="000000"/>
                </a:solidFill>
              </a:rPr>
              <a:t>Numéro IMO</a:t>
            </a:r>
            <a:endParaRPr>
              <a:solidFill>
                <a:srgbClr val="000000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❏"/>
            </a:pPr>
            <a:r>
              <a:rPr lang="fr">
                <a:solidFill>
                  <a:srgbClr val="000000"/>
                </a:solidFill>
              </a:rPr>
              <a:t>Date</a:t>
            </a:r>
            <a:endParaRPr>
              <a:solidFill>
                <a:srgbClr val="000000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❏"/>
            </a:pPr>
            <a:r>
              <a:rPr lang="fr">
                <a:solidFill>
                  <a:srgbClr val="000000"/>
                </a:solidFill>
              </a:rPr>
              <a:t>Localisation → Toulon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43" name="Google Shape;243;p24" title="logo-seatech-2023-1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724" y="25"/>
            <a:ext cx="1382226" cy="39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7850" y="25"/>
            <a:ext cx="2026150" cy="10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6200" y="1454000"/>
            <a:ext cx="4008450" cy="3160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4"/>
          <p:cNvPicPr preferRelativeResize="0"/>
          <p:nvPr/>
        </p:nvPicPr>
        <p:blipFill rotWithShape="1">
          <a:blip r:embed="rId6">
            <a:alphaModFix/>
          </a:blip>
          <a:srcRect b="12776" l="16771" r="8457" t="6311"/>
          <a:stretch/>
        </p:blipFill>
        <p:spPr>
          <a:xfrm>
            <a:off x="8584650" y="4492975"/>
            <a:ext cx="462768" cy="5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8702650" y="4557603"/>
            <a:ext cx="366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latin typeface="Pacifico"/>
                <a:ea typeface="Pacifico"/>
                <a:cs typeface="Pacifico"/>
                <a:sym typeface="Pacifico"/>
              </a:rPr>
              <a:t>12</a:t>
            </a:r>
            <a:endParaRPr sz="1000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 txBox="1"/>
          <p:nvPr>
            <p:ph idx="4294967295" type="title"/>
          </p:nvPr>
        </p:nvSpPr>
        <p:spPr>
          <a:xfrm>
            <a:off x="319325" y="460075"/>
            <a:ext cx="60282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100"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7075" y="25"/>
            <a:ext cx="1996925" cy="98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5" title="logo-seatech-2023-1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724" y="25"/>
            <a:ext cx="1382226" cy="3934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 txBox="1"/>
          <p:nvPr/>
        </p:nvSpPr>
        <p:spPr>
          <a:xfrm>
            <a:off x="319325" y="1173475"/>
            <a:ext cx="4252800" cy="17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237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Objectifs atteints: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Base de données de 13 000 images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Catégorisation des bateaux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Précision de la reconnaissance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6" name="Google Shape;2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7850" y="25"/>
            <a:ext cx="2026150" cy="10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 txBox="1"/>
          <p:nvPr/>
        </p:nvSpPr>
        <p:spPr>
          <a:xfrm>
            <a:off x="319325" y="2986075"/>
            <a:ext cx="3807900" cy="18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237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Objectifs dépassés :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★"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3000 images supplémentaires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★"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Implémentation du numéro IMO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★"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Lieu de prise de photos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★"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Date de prise de photos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999" y="1857325"/>
            <a:ext cx="138850" cy="12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4657788" y="1267125"/>
            <a:ext cx="4172400" cy="2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237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Améliorations possibles:</a:t>
            </a:r>
            <a:endParaRPr sz="700" u="sng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➔"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Améliorer la détection de la météo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➔"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Création d’index pour la base de données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➔"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Entraîner l’IA avec plus d’images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➔"/>
            </a:pPr>
            <a:r>
              <a:rPr lang="fr">
                <a:latin typeface="Roboto"/>
                <a:ea typeface="Roboto"/>
                <a:cs typeface="Roboto"/>
                <a:sym typeface="Roboto"/>
              </a:rPr>
              <a:t>Créer de nouvelles sous catégories</a:t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0" name="Google Shape;260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999" y="2067850"/>
            <a:ext cx="138850" cy="12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999" y="2278375"/>
            <a:ext cx="138850" cy="12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4713" y="3062725"/>
            <a:ext cx="3626583" cy="1700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5"/>
          <p:cNvPicPr preferRelativeResize="0"/>
          <p:nvPr/>
        </p:nvPicPr>
        <p:blipFill rotWithShape="1">
          <a:blip r:embed="rId7">
            <a:alphaModFix/>
          </a:blip>
          <a:srcRect b="12776" l="16771" r="8457" t="6311"/>
          <a:stretch/>
        </p:blipFill>
        <p:spPr>
          <a:xfrm>
            <a:off x="8584650" y="4492975"/>
            <a:ext cx="462768" cy="5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8702650" y="4557603"/>
            <a:ext cx="366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latin typeface="Pacifico"/>
                <a:ea typeface="Pacifico"/>
                <a:cs typeface="Pacifico"/>
                <a:sym typeface="Pacifico"/>
              </a:rPr>
              <a:t>13</a:t>
            </a:r>
            <a:endParaRPr sz="1000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/>
          <p:nvPr>
            <p:ph type="ctrTitle"/>
          </p:nvPr>
        </p:nvSpPr>
        <p:spPr>
          <a:xfrm>
            <a:off x="598100" y="219875"/>
            <a:ext cx="25512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Annexes</a:t>
            </a:r>
            <a:endParaRPr/>
          </a:p>
        </p:txBody>
      </p:sp>
      <p:sp>
        <p:nvSpPr>
          <p:cNvPr id="270" name="Google Shape;270;p26"/>
          <p:cNvSpPr txBox="1"/>
          <p:nvPr>
            <p:ph idx="1" type="subTitle"/>
          </p:nvPr>
        </p:nvSpPr>
        <p:spPr>
          <a:xfrm>
            <a:off x="598100" y="1388800"/>
            <a:ext cx="8222100" cy="33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fr" sz="1900"/>
              <a:t>Code Web </a:t>
            </a:r>
            <a:r>
              <a:rPr lang="fr" sz="1900"/>
              <a:t>Scraping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fr" sz="1900"/>
              <a:t>Code jour/nuit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fr" sz="1900"/>
              <a:t>Code météo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fr" sz="1900"/>
              <a:t>Graphes IA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fr" sz="1900"/>
              <a:t>SQL : création des tables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fr" sz="1900"/>
              <a:t>Code remplissage de la base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fr" sz="1900"/>
              <a:t>Code IHM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fr" sz="1900"/>
              <a:t>Matrice RACI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fr" sz="1900"/>
              <a:t>Diagramme GANTT</a:t>
            </a:r>
            <a:endParaRPr sz="1900"/>
          </a:p>
        </p:txBody>
      </p:sp>
      <p:pic>
        <p:nvPicPr>
          <p:cNvPr id="271" name="Google Shape;271;p26"/>
          <p:cNvPicPr preferRelativeResize="0"/>
          <p:nvPr/>
        </p:nvPicPr>
        <p:blipFill rotWithShape="1">
          <a:blip r:embed="rId3">
            <a:alphaModFix/>
          </a:blip>
          <a:srcRect b="12776" l="16771" r="8457" t="6311"/>
          <a:stretch/>
        </p:blipFill>
        <p:spPr>
          <a:xfrm>
            <a:off x="8584650" y="4492975"/>
            <a:ext cx="462768" cy="5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8702650" y="4557603"/>
            <a:ext cx="366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latin typeface="Pacifico"/>
                <a:ea typeface="Pacifico"/>
                <a:cs typeface="Pacifico"/>
                <a:sym typeface="Pacifico"/>
              </a:rPr>
              <a:t>14</a:t>
            </a:r>
            <a:endParaRPr sz="1000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fr"/>
              <a:t>Code Web Scraping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888100" y="1017800"/>
            <a:ext cx="27636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Code Web Scraping</a:t>
            </a:r>
            <a:r>
              <a:rPr lang="f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27"/>
          <p:cNvSpPr txBox="1"/>
          <p:nvPr>
            <p:ph type="title"/>
          </p:nvPr>
        </p:nvSpPr>
        <p:spPr>
          <a:xfrm>
            <a:off x="311700" y="187227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2. Code jour/nuit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7"/>
          <p:cNvSpPr txBox="1"/>
          <p:nvPr/>
        </p:nvSpPr>
        <p:spPr>
          <a:xfrm>
            <a:off x="888100" y="2480075"/>
            <a:ext cx="18915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Code jour/nuit</a:t>
            </a:r>
            <a:r>
              <a:rPr lang="f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27"/>
          <p:cNvSpPr txBox="1"/>
          <p:nvPr>
            <p:ph type="title"/>
          </p:nvPr>
        </p:nvSpPr>
        <p:spPr>
          <a:xfrm>
            <a:off x="311700" y="33345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3. Code météo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888100" y="39423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Code météo</a:t>
            </a:r>
            <a:r>
              <a:rPr lang="fr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/>
          </a:p>
        </p:txBody>
      </p:sp>
      <p:sp>
        <p:nvSpPr>
          <p:cNvPr id="283" name="Google Shape;283;p27"/>
          <p:cNvSpPr txBox="1"/>
          <p:nvPr>
            <p:ph type="title"/>
          </p:nvPr>
        </p:nvSpPr>
        <p:spPr>
          <a:xfrm>
            <a:off x="4633675" y="357400"/>
            <a:ext cx="28518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4. Graphes IA</a:t>
            </a:r>
            <a:endParaRPr/>
          </a:p>
        </p:txBody>
      </p:sp>
      <p:pic>
        <p:nvPicPr>
          <p:cNvPr id="284" name="Google Shape;284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3875" y="965200"/>
            <a:ext cx="3820900" cy="3820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5" name="Google Shape;285;p27"/>
          <p:cNvCxnSpPr/>
          <p:nvPr/>
        </p:nvCxnSpPr>
        <p:spPr>
          <a:xfrm>
            <a:off x="4229100" y="154775"/>
            <a:ext cx="12000" cy="488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6" name="Google Shape;286;p27"/>
          <p:cNvPicPr preferRelativeResize="0"/>
          <p:nvPr/>
        </p:nvPicPr>
        <p:blipFill rotWithShape="1">
          <a:blip r:embed="rId7">
            <a:alphaModFix/>
          </a:blip>
          <a:srcRect b="12776" l="16771" r="8457" t="6311"/>
          <a:stretch/>
        </p:blipFill>
        <p:spPr>
          <a:xfrm>
            <a:off x="8584650" y="4492975"/>
            <a:ext cx="462768" cy="5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7"/>
          <p:cNvSpPr txBox="1"/>
          <p:nvPr/>
        </p:nvSpPr>
        <p:spPr>
          <a:xfrm>
            <a:off x="8702650" y="4557603"/>
            <a:ext cx="366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latin typeface="Pacifico"/>
                <a:ea typeface="Pacifico"/>
                <a:cs typeface="Pacifico"/>
                <a:sym typeface="Pacifico"/>
              </a:rPr>
              <a:t>15</a:t>
            </a:r>
            <a:endParaRPr sz="1000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5. SQL: création de la base</a:t>
            </a:r>
            <a:endParaRPr/>
          </a:p>
        </p:txBody>
      </p:sp>
      <p:sp>
        <p:nvSpPr>
          <p:cNvPr id="293" name="Google Shape;293;p28"/>
          <p:cNvSpPr txBox="1"/>
          <p:nvPr/>
        </p:nvSpPr>
        <p:spPr>
          <a:xfrm>
            <a:off x="3552300" y="1103275"/>
            <a:ext cx="2625600" cy="1551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CREATE TABLE images (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id_image serial PRIMARY KEY,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meteo VARCHAR(20),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jour_nuit VARCHAR(20),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nb_bateau FLOAT,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chemin_image VARCHAR(255)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28"/>
          <p:cNvSpPr txBox="1"/>
          <p:nvPr/>
        </p:nvSpPr>
        <p:spPr>
          <a:xfrm>
            <a:off x="609288" y="1103275"/>
            <a:ext cx="2625600" cy="2528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CREATE TABLE bateaux (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id_bateau serial PRIMARY KEY,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classe VARCHAR(255),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center_x FLOAT,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center_y FLOAT,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width FLOAT,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height FLOAT,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vue VARCHAR(255),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captured VARCHAR(255),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localisation VARCHAR(255),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numero_imo FLOAT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28"/>
          <p:cNvSpPr txBox="1"/>
          <p:nvPr/>
        </p:nvSpPr>
        <p:spPr>
          <a:xfrm>
            <a:off x="3552313" y="2970400"/>
            <a:ext cx="4982400" cy="1919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CREATE TABLE relation (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id_bateau INT,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id_image INT,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PRIMARY KEY (id_bateau, id_image),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FOREIGN KEY (id_bateau) REFERENCES bateaux(id_bateau) ON DELETE RESTRICT,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FOREIGN KEY (id_image) REFERENCES images(id_image) ON DELETE RESTRICT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);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6" name="Google Shape;296;p28"/>
          <p:cNvPicPr preferRelativeResize="0"/>
          <p:nvPr/>
        </p:nvPicPr>
        <p:blipFill rotWithShape="1">
          <a:blip r:embed="rId3">
            <a:alphaModFix/>
          </a:blip>
          <a:srcRect b="12776" l="16771" r="8457" t="6311"/>
          <a:stretch/>
        </p:blipFill>
        <p:spPr>
          <a:xfrm>
            <a:off x="8584650" y="4492975"/>
            <a:ext cx="462768" cy="5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8"/>
          <p:cNvSpPr txBox="1"/>
          <p:nvPr/>
        </p:nvSpPr>
        <p:spPr>
          <a:xfrm>
            <a:off x="8702650" y="4557603"/>
            <a:ext cx="366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latin typeface="Pacifico"/>
                <a:ea typeface="Pacifico"/>
                <a:cs typeface="Pacifico"/>
                <a:sym typeface="Pacifico"/>
              </a:rPr>
              <a:t>16</a:t>
            </a:r>
            <a:endParaRPr sz="1000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6. Code remplissage de la base</a:t>
            </a:r>
            <a:endParaRPr/>
          </a:p>
        </p:txBody>
      </p:sp>
      <p:sp>
        <p:nvSpPr>
          <p:cNvPr id="303" name="Google Shape;303;p29"/>
          <p:cNvSpPr txBox="1"/>
          <p:nvPr/>
        </p:nvSpPr>
        <p:spPr>
          <a:xfrm>
            <a:off x="753950" y="2875650"/>
            <a:ext cx="13416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Code ihm</a:t>
            </a:r>
            <a:r>
              <a:rPr lang="f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29"/>
          <p:cNvSpPr txBox="1"/>
          <p:nvPr>
            <p:ph type="title"/>
          </p:nvPr>
        </p:nvSpPr>
        <p:spPr>
          <a:xfrm>
            <a:off x="311700" y="22678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7. Code IHM</a:t>
            </a:r>
            <a:endParaRPr/>
          </a:p>
        </p:txBody>
      </p:sp>
      <p:sp>
        <p:nvSpPr>
          <p:cNvPr id="305" name="Google Shape;305;p29"/>
          <p:cNvSpPr txBox="1"/>
          <p:nvPr/>
        </p:nvSpPr>
        <p:spPr>
          <a:xfrm>
            <a:off x="753950" y="1092025"/>
            <a:ext cx="46149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Code remplissage de la base</a:t>
            </a:r>
            <a:r>
              <a:rPr lang="f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6" name="Google Shape;306;p29"/>
          <p:cNvPicPr preferRelativeResize="0"/>
          <p:nvPr/>
        </p:nvPicPr>
        <p:blipFill rotWithShape="1">
          <a:blip r:embed="rId5">
            <a:alphaModFix/>
          </a:blip>
          <a:srcRect b="12776" l="16771" r="8457" t="6311"/>
          <a:stretch/>
        </p:blipFill>
        <p:spPr>
          <a:xfrm>
            <a:off x="8584650" y="4492975"/>
            <a:ext cx="462768" cy="5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9"/>
          <p:cNvSpPr txBox="1"/>
          <p:nvPr/>
        </p:nvSpPr>
        <p:spPr>
          <a:xfrm>
            <a:off x="8702650" y="4557603"/>
            <a:ext cx="366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latin typeface="Pacifico"/>
                <a:ea typeface="Pacifico"/>
                <a:cs typeface="Pacifico"/>
                <a:sym typeface="Pacifico"/>
              </a:rPr>
              <a:t>17</a:t>
            </a:r>
            <a:endParaRPr sz="1000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8. Matrice RACI</a:t>
            </a:r>
            <a:endParaRPr/>
          </a:p>
        </p:txBody>
      </p:sp>
      <p:pic>
        <p:nvPicPr>
          <p:cNvPr id="313" name="Google Shape;313;p30"/>
          <p:cNvPicPr preferRelativeResize="0"/>
          <p:nvPr/>
        </p:nvPicPr>
        <p:blipFill rotWithShape="1">
          <a:blip r:embed="rId3">
            <a:alphaModFix/>
          </a:blip>
          <a:srcRect b="12776" l="16771" r="8457" t="6311"/>
          <a:stretch/>
        </p:blipFill>
        <p:spPr>
          <a:xfrm>
            <a:off x="8584650" y="4492975"/>
            <a:ext cx="462768" cy="5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0"/>
          <p:cNvSpPr txBox="1"/>
          <p:nvPr/>
        </p:nvSpPr>
        <p:spPr>
          <a:xfrm>
            <a:off x="8702650" y="4557603"/>
            <a:ext cx="366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latin typeface="Pacifico"/>
                <a:ea typeface="Pacifico"/>
                <a:cs typeface="Pacifico"/>
                <a:sym typeface="Pacifico"/>
              </a:rPr>
              <a:t>18</a:t>
            </a:r>
            <a:endParaRPr sz="1000">
              <a:latin typeface="Pacifico"/>
              <a:ea typeface="Pacifico"/>
              <a:cs typeface="Pacifico"/>
              <a:sym typeface="Pacifico"/>
            </a:endParaRPr>
          </a:p>
        </p:txBody>
      </p:sp>
      <p:pic>
        <p:nvPicPr>
          <p:cNvPr id="315" name="Google Shape;31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120475"/>
            <a:ext cx="9144002" cy="2983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9. Diagramme GANTT</a:t>
            </a:r>
            <a:endParaRPr/>
          </a:p>
        </p:txBody>
      </p:sp>
      <p:pic>
        <p:nvPicPr>
          <p:cNvPr id="321" name="Google Shape;3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2913" y="1157975"/>
            <a:ext cx="7318174" cy="3820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1"/>
          <p:cNvPicPr preferRelativeResize="0"/>
          <p:nvPr/>
        </p:nvPicPr>
        <p:blipFill rotWithShape="1">
          <a:blip r:embed="rId4">
            <a:alphaModFix/>
          </a:blip>
          <a:srcRect b="12776" l="16771" r="8457" t="6311"/>
          <a:stretch/>
        </p:blipFill>
        <p:spPr>
          <a:xfrm>
            <a:off x="8584650" y="4492975"/>
            <a:ext cx="462768" cy="5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1"/>
          <p:cNvSpPr txBox="1"/>
          <p:nvPr/>
        </p:nvSpPr>
        <p:spPr>
          <a:xfrm>
            <a:off x="8702650" y="4557603"/>
            <a:ext cx="366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latin typeface="Pacifico"/>
                <a:ea typeface="Pacifico"/>
                <a:cs typeface="Pacifico"/>
                <a:sym typeface="Pacifico"/>
              </a:rPr>
              <a:t>19</a:t>
            </a:r>
            <a:endParaRPr sz="1000">
              <a:latin typeface="Pacifico"/>
              <a:ea typeface="Pacifico"/>
              <a:cs typeface="Pacifico"/>
              <a:sym typeface="Pacific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